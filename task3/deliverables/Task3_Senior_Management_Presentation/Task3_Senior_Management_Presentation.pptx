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Jurisdiction-Aware Credit Decision Governance Monitor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3504" y="1408176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AF3"/>
                </a:solidFill>
              </a:rPr>
              <a:t>A senior-management pitch for Revolut’s AI-assisted credit decision governance across the US and EU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3504" y="1874520"/>
            <a:ext cx="3200400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>
                <a:alpha val="0"/>
              </a:srgbClr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Option C: Analytical Design + Quantitative Prototype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3931920" y="1874520"/>
            <a:ext cx="4160520" cy="292608"/>
          </a:xfrm>
          <a:prstGeom prst="rect">
            <a:avLst/>
          </a:prstGeom>
          <a:solidFill>
            <a:srgbClr val="F2B544"/>
          </a:solidFill>
          <a:ln>
            <a:solidFill>
              <a:srgbClr val="F2B544">
                <a:alpha val="0"/>
              </a:srgbClr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Shared Governance Schema ≠ Shared Sensitive-Data Pipeline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" y="276148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544"/>
                </a:solidFill>
              </a:rPr>
              <a:t>Core product thesis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3090672"/>
            <a:ext cx="79552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Same platform logic for evidence, version control and escalation — different jurisdiction-bound data access, computations and human review triggers.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4617720"/>
            <a:ext cx="5257800" cy="32004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Scope discipline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5001768"/>
            <a:ext cx="520293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5093208"/>
            <a:ext cx="5221224" cy="82296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The tool produces governance evidence and risk signals. It does not make credit decisions, issue legal opinions, certify EU AI Act conformity or convert SHAP values into final adverse-action notices.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1344" y="4617720"/>
            <a:ext cx="5257800" cy="32004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Assignment artefacts used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08776" y="5001768"/>
            <a:ext cx="520293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5093208"/>
            <a:ext cx="5221224" cy="82296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Task 3 design report, jurisdiction config, regulatory mapping table, synthetic data, US/EU evidence outputs, sensitivity results and tool governance card.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63550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5D4"/>
                </a:solidFill>
              </a:rPr>
              <a:t>Pengxiang Gong | G2505431H | MH6822 Regulatory Technology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storyline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773"/>
                </a:solidFill>
              </a:rPr>
              <a:t>What senior management needs to understand before approving a RegTech product boundary.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35024"/>
            <a:ext cx="438912" cy="438912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130759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Regulatory divergence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98448" y="161848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US and EU do not ask for the same model report. They encode different political choices about explanation, bias testing and lifecycle governance.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478024"/>
            <a:ext cx="438912" cy="438912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245059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Product boundary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The product deliberately avoids a unified sensitive-data pool. Governance is shared; data paths are not.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" y="3621024"/>
            <a:ext cx="438912" cy="438912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8448" y="359359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Operational proof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8448" y="390448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Synthetic data and rule configuration show how the tool emits different evidence packages under US and EU settings.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4764024"/>
            <a:ext cx="438912" cy="438912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8448" y="473659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Honest limits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98448" y="504748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The tool supports evidence and escalation. It does not certify legality, make credit decisions or automatically repair models.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58338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8B8D"/>
                </a:solidFill>
              </a:rPr>
              <a:t>Management takeaway</a:t>
            </a:r>
            <a:endParaRPr lang="en-US" sz="1600" b="1" dirty="0">
              <a:solidFill>
                <a:srgbClr val="0F8B8D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0" y="584301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Approve the tool as a governance monitor, not as a credit decision engine. Its value is in evidence routing, rule versioning and accountability under jurisdictional divergence.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problem: AI credit governance is not one global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773"/>
                </a:solidFill>
              </a:rPr>
              <a:t>Revolut-like digital credit products scale faster than jurisdiction-specific evidence workflows.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33832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Consumer impact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682496"/>
            <a:ext cx="3328416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773936"/>
            <a:ext cx="3346704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Credit decisions shape access to essential financial services. If the model fails, harm scales quickly and can remain hidden behind apparently neutral variables.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07408" y="1298448"/>
            <a:ext cx="33832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Compliance impact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682496"/>
            <a:ext cx="332841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773936"/>
            <a:ext cx="3346704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Regulators expect evidence that the institution can explain decisions, monitor bias, maintain logs and route judgement to accountable owners.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56448" y="1298448"/>
            <a:ext cx="33832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Operating impact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682496"/>
            <a:ext cx="332841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773936"/>
            <a:ext cx="3346704" cy="667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Instant decisioning is valuable, but broad manual review can paralyse the business. Oversight must be risk-tiered, not indiscriminate.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278892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Why the current memo/spreadsheet approach fails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3364992"/>
            <a:ext cx="1883664" cy="2560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712464"/>
            <a:ext cx="1883664" cy="685800"/>
          </a:xfrm>
          <a:prstGeom prst="rect">
            <a:avLst/>
          </a:prstGeom>
          <a:solidFill>
            <a:srgbClr val="F0F4F8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3"/>
                </a:solidFill>
              </a:rPr>
              <a:t>Executable, logged and reviewable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862072" y="3364992"/>
            <a:ext cx="1883664" cy="2560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62072" y="3712464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3"/>
                </a:solidFill>
              </a:rPr>
              <a:t>Enforced by contract, not prose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010912" y="3364992"/>
            <a:ext cx="1883664" cy="2560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 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3712464"/>
            <a:ext cx="1883664" cy="685800"/>
          </a:xfrm>
          <a:prstGeom prst="rect">
            <a:avLst/>
          </a:prstGeom>
          <a:solidFill>
            <a:srgbClr val="F0F4F8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3"/>
                </a:solidFill>
              </a:rPr>
              <a:t>Jurisdiction-bound calculations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59752" y="3364992"/>
            <a:ext cx="1883664" cy="2560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owner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9752" y="3712464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3"/>
                </a:solidFill>
              </a:rPr>
              <a:t>Named accountable owner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9308592" y="3364992"/>
            <a:ext cx="1883664" cy="2560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Escalation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08592" y="3712464"/>
            <a:ext cx="1883664" cy="685800"/>
          </a:xfrm>
          <a:prstGeom prst="rect">
            <a:avLst/>
          </a:prstGeom>
          <a:solidFill>
            <a:srgbClr val="F0F4F8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3"/>
                </a:solidFill>
              </a:rPr>
              <a:t>Risk-tiered workflow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768096" y="528523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Board-level question changes from “Did someone write a memo?” to “Which evidence package, rule version, owner and escalation level support this workflow?”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divergence: different political choices, different tool requirements</a:t>
            </a:r>
            <a:endParaRPr lang="en-US" sz="2400" b="1" dirty="0">
              <a:solidFill>
                <a:srgbClr val="17324D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The same credit decisioning problem does not produce the same evidence obligation.</a:t>
            </a:r>
            <a:endParaRPr lang="en-US" sz="14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>
              <a:solidFill>
                <a:srgbClr val="5C6773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1859154" cy="6675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Dimension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362074" y="1298448"/>
            <a:ext cx="2788730" cy="6675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United States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150804" y="1298448"/>
            <a:ext cx="2928167" cy="6675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European Union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78971" y="1298448"/>
            <a:ext cx="3625349" cy="6675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implication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185915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Primary question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362074" y="1965960"/>
            <a:ext cx="278873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Can specific and accurate reasons be provided for adverse action?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50804" y="1965960"/>
            <a:ext cx="2928167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Can high-risk AI governance be evidenced before and after deployment?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78971" y="1965960"/>
            <a:ext cx="362534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Different computation modules, not report skins.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1859154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Sensitive data posture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62074" y="2633472"/>
            <a:ext cx="2788730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live path hard-drops audit-only protected fields.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50804" y="2633472"/>
            <a:ext cx="2928167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Audit-only sensitive fields only in segregated, lawful testing path.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78971" y="2633472"/>
            <a:ext cx="3625349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Shared schema, separate data paths.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3300984"/>
            <a:ext cx="185915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Explanation posture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62074" y="3300984"/>
            <a:ext cx="278873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SHAP-style attribution is internal aid; approved reason codes are reviewed.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50804" y="3300984"/>
            <a:ext cx="2928167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Explanation forms part of broader lifecycle governance.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78971" y="3300984"/>
            <a:ext cx="362534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Evidence packages differ by jurisdiction.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3968496"/>
            <a:ext cx="1859154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Human judgement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362074" y="3968496"/>
            <a:ext cx="2788730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Low-confidence reasons and proxy-risk signals trigger review.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50804" y="3968496"/>
            <a:ext cx="2928167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Governance gaps, bias tests and drift trigger review.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78971" y="3968496"/>
            <a:ext cx="3625349" cy="6675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Same ladder, different triggers.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" y="5304155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C4C"/>
                </a:solidFill>
              </a:rPr>
              <a:t>Do not flatten the regimes into one global compliance score.</a:t>
            </a:r>
            <a:endParaRPr lang="en-US" b="1" dirty="0">
              <a:solidFill>
                <a:srgbClr val="C94C4C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8368" y="620471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The tool keeps management reporting comparable while preserving legal difference: common evidence fields; jurisdiction-bound data access and computations.</a:t>
            </a:r>
            <a:endParaRPr lang="en-US" sz="1600" dirty="0">
              <a:solidFill>
                <a:srgbClr val="1F29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773"/>
                </a:solidFill>
              </a:rPr>
              <a:t>04</a:t>
            </a:r>
            <a:endParaRPr lang="en-US" sz="1000" dirty="0">
              <a:solidFill>
                <a:srgbClr val="5C677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architecture: shared governance, jurisdiction-bound computation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What is shared is the governance evidence system, not the sensitive-data pipeline.</a:t>
            </a:r>
            <a:endParaRPr lang="en-US" sz="14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>
              <a:solidFill>
                <a:srgbClr val="5C6773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18745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Shared governance framework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084832"/>
            <a:ext cx="192024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Evidence schema, audit log, configuration change control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487168" y="1901952"/>
            <a:ext cx="301752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34640" y="1399032"/>
            <a:ext cx="1874520" cy="566928"/>
          </a:xfrm>
          <a:prstGeom prst="rect">
            <a:avLst/>
          </a:prstGeom>
          <a:solidFill>
            <a:srgbClr val="E6F7F7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Jurisdiction-specific data paths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807208" y="2084832"/>
            <a:ext cx="192024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US hard-drop path; EU segregated audit environment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18888" y="1901952"/>
            <a:ext cx="301752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66360" y="1399032"/>
            <a:ext cx="18745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Jurisdiction-bound computation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38928" y="2084832"/>
            <a:ext cx="192024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US reason/proxy modules; EU high-risk/bias/drift modules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50608" y="1901952"/>
            <a:ext cx="301752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0" y="1399032"/>
            <a:ext cx="1874520" cy="566928"/>
          </a:xfrm>
          <a:prstGeom prst="rect">
            <a:avLst/>
          </a:prstGeom>
          <a:solidFill>
            <a:srgbClr val="E6F7F7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Common evidence package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70648" y="2084832"/>
            <a:ext cx="192024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Risk signal, confidence, owner, required action, deadline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82328" y="1901952"/>
            <a:ext cx="301752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829800" y="1399032"/>
            <a:ext cx="18745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Risk-tiered oversight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02368" y="2084832"/>
            <a:ext cx="1920240" cy="640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Level 0 monitoring through Level 4 emergency suspension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808" y="3246120"/>
            <a:ext cx="50749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Why this is not a decorative selector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7240" y="3630168"/>
            <a:ext cx="502005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721608"/>
            <a:ext cx="5038344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The jurisdiction choice changes data contracts, allowed fields, computation modules, evidence outputs and review owners. It is not a front-end dropdown that swaps labels.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5080" y="3246120"/>
            <a:ext cx="50749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Why this is commercially usable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82512" y="3630168"/>
            <a:ext cx="502005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721608"/>
            <a:ext cx="5038344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Human review is tiered. Minor drift creates a monitoring ticket; material governance gaps or data leakage trigger deployment hold or emergency suspension.</a:t>
            </a:r>
            <a:endParaRPr lang="en-US" sz="140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9808" y="516636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Unified evidence schema fields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" y="546811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jurisdiction • model_version • data_version • rule_version • risk_signal • evidence_generated • confidence_level • owner • action • deadline • escalation_level • audit_log_reference</a:t>
            </a:r>
            <a:endParaRPr lang="en-US" sz="1400" dirty="0">
              <a:solidFill>
                <a:srgbClr val="5C677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05</a:t>
            </a:r>
            <a:endParaRPr lang="en-US" sz="1000" dirty="0">
              <a:solidFill>
                <a:srgbClr val="5C677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architecture: the product boundary is a data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US and EU modules share a platform but not a sensitive-data pool.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344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US hard-drop path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EU segregated audit path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74520" y="2011680"/>
            <a:ext cx="9144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2011680"/>
            <a:ext cx="9144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12344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Application data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788920" y="1719072"/>
            <a:ext cx="1234440" cy="621792"/>
          </a:xfrm>
          <a:prstGeom prst="rect">
            <a:avLst/>
          </a:prstGeom>
          <a:solidFill>
            <a:srgbClr val="F0F4F8"/>
          </a:solidFill>
          <a:ln w="13970">
            <a:solidFill>
              <a:srgbClr val="C94C4C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Hard-drop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protected audit fields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1417320" cy="621792"/>
          </a:xfrm>
          <a:prstGeom prst="rect">
            <a:avLst/>
          </a:prstGeom>
          <a:solidFill>
            <a:srgbClr val="E6F7F7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Reason-code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proxy-risk modules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257860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No age, gender_audit, age_band, protected_group_flag or audit_group in Task3_US_Processed_Data.csv.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26680" y="2011680"/>
            <a:ext cx="9144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75520" y="2011680"/>
            <a:ext cx="77724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0" y="1719072"/>
            <a:ext cx="132588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Live model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(no sensitive fields)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41080" y="1719072"/>
            <a:ext cx="1234440" cy="621792"/>
          </a:xfrm>
          <a:prstGeom prst="rect">
            <a:avLst/>
          </a:prstGeom>
          <a:solidFill>
            <a:srgbClr val="F0EDFF"/>
          </a:solidFill>
          <a:ln w="13970">
            <a:solidFill>
              <a:srgbClr val="6A5ACD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Segregated audit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environment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652760" y="1719072"/>
            <a:ext cx="1298448" cy="621792"/>
          </a:xfrm>
          <a:prstGeom prst="rect">
            <a:avLst/>
          </a:prstGeom>
          <a:solidFill>
            <a:srgbClr val="E6F7F7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Bias testing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governance evidence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19088" y="2578608"/>
            <a:ext cx="528523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Audit-only fields enter bias testing only with lawful basis, access controls, logs, data minimisation and retention limits.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474720" cy="3246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file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43400" y="3822192"/>
            <a:ext cx="960120" cy="3246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Rows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03520" y="3822192"/>
            <a:ext cx="2377440" cy="3246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Protected/audit fields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3822192"/>
            <a:ext cx="3611880" cy="324612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8680" y="4146804"/>
            <a:ext cx="34747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Task3_Synthetic_Credit_Data.csv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43400" y="4146804"/>
            <a:ext cx="960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1,400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0" y="4146804"/>
            <a:ext cx="237744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Contains synthetic audit fields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80960" y="4146804"/>
            <a:ext cx="361188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Master synthetic dataset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4471416"/>
            <a:ext cx="3474720" cy="3246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Task3_US_Processed_Data.csv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43400" y="4471416"/>
            <a:ext cx="960120" cy="3246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700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03520" y="4471416"/>
            <a:ext cx="2377440" cy="3246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Hard-dropped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80960" y="4471416"/>
            <a:ext cx="3611880" cy="324612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live governance path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4796028"/>
            <a:ext cx="34747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Task3_EU_Audit_Data.csv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343400" y="4796028"/>
            <a:ext cx="960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700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03520" y="4796028"/>
            <a:ext cx="237744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Audit-only fields retained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80960" y="4796028"/>
            <a:ext cx="361188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controlled bias-testing path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773"/>
                </a:solidFill>
              </a:rPr>
              <a:t>06</a:t>
            </a:r>
            <a:endParaRPr lang="en-US" sz="1000" dirty="0">
              <a:solidFill>
                <a:srgbClr val="5C677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 engine: legal-policy mapping becomes executable governance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Every computation has a rule owner, version, data-access posture and rollback path.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98448"/>
            <a:ext cx="1188720" cy="59436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Rule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19072" y="1298448"/>
            <a:ext cx="1874520" cy="59436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Module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593592" y="1298448"/>
            <a:ext cx="1600200" cy="59436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Owner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193792" y="1298448"/>
            <a:ext cx="1874520" cy="59436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Trigger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US-ADV-001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719072" y="189280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Reason-code mapping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93592" y="1892808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Compliance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93792" y="189280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Low confidence &lt; 0.58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" y="2487168"/>
            <a:ext cx="11887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US-PROXY-002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19072" y="248716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Proxy-risk monitor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93592" y="2487168"/>
            <a:ext cx="160020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Fair Lending Counsel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93792" y="248716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Postcode/thin-file gaps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3081528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US-DATA-003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19072" y="308152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Data contract validator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93592" y="3081528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Data Governance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93792" y="308152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Protected field appears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0352" y="3675888"/>
            <a:ext cx="11887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EU-HRAI-001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19072" y="367588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Pre-deployment gate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93592" y="3675888"/>
            <a:ext cx="160020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AI Governance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93792" y="367588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Completeness &lt; 90%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" y="4270248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EU-BIAS-002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19072" y="427024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Controlled audit bias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593592" y="4270248"/>
            <a:ext cx="1600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Model Risk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93792" y="4270248"/>
            <a:ext cx="1874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Material group gap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0352" y="4864608"/>
            <a:ext cx="11887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EU-DRIFT-003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19072" y="486460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Drift monitoring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93592" y="4864608"/>
            <a:ext cx="160020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Model Monitoring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93792" y="4864608"/>
            <a:ext cx="1874520" cy="59436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PSI/material shift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60920" y="1298448"/>
            <a:ext cx="4251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Configuration controls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388352" y="1682496"/>
            <a:ext cx="419709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79208" y="1773936"/>
            <a:ext cx="4215384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Each rule stores: rule_id, jurisdiction, legal_basis, data_access, computation_module, output_required, human_review_trigger, owner, version, effective_date, approval_status and rollback mechanism.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60920" y="3017520"/>
            <a:ext cx="42519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Why this matters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88352" y="3401568"/>
            <a:ext cx="419709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9208" y="3493008"/>
            <a:ext cx="4215384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 rule change is not an invisible code edit. It becomes a governed event with owner, approvals, versioning and rollback. That directly addresses jurisdiction-configuration drift risk.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60920" y="489204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C4C"/>
                </a:solidFill>
              </a:rPr>
              <a:t>Design discipline</a:t>
            </a:r>
            <a:endParaRPr lang="en-US" sz="1200" b="1" dirty="0">
              <a:solidFill>
                <a:srgbClr val="C94C4C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60920" y="521208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The legal mapping table is the backbone; jurisdiction_config is the executable layer. If the law/policy basis is uncertain, the rule is labelled as internal governance rather than invented statute.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773"/>
                </a:solidFill>
              </a:rPr>
              <a:t>07</a:t>
            </a:r>
            <a:endParaRPr lang="en-US" sz="1000" dirty="0">
              <a:solidFill>
                <a:srgbClr val="5C677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Quantitative prototype: synthetic data proves the governance mechanics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The numbers are synthetic; the routing, evidence and escalation logic are the deliverable.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Applications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</a:rPr>
              <a:t>1,400</a:t>
            </a:r>
            <a:endParaRPr lang="en-US" sz="2400" b="1" dirty="0">
              <a:solidFill>
                <a:srgbClr val="17324D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13807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Synthetic applications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240280" y="13258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US path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240280" y="1572768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6EA8"/>
                </a:solidFill>
              </a:rPr>
              <a:t>700</a:t>
            </a:r>
            <a:endParaRPr lang="en-US" sz="2400" b="1" dirty="0">
              <a:solidFill>
                <a:srgbClr val="3B6EA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258568" y="2029968"/>
            <a:ext cx="13807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Processed records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0" y="13258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EU path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0" y="1572768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5ACD"/>
                </a:solidFill>
              </a:rPr>
              <a:t>700</a:t>
            </a:r>
            <a:endParaRPr lang="en-US" sz="2400" b="1" dirty="0">
              <a:solidFill>
                <a:srgbClr val="6A5AC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58768" y="2029968"/>
            <a:ext cx="13807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Audit records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40680" y="13258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US declines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40680" y="1572768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4C4C"/>
                </a:solidFill>
              </a:rPr>
              <a:t>521</a:t>
            </a:r>
            <a:endParaRPr lang="en-US" sz="2400" b="1" dirty="0">
              <a:solidFill>
                <a:srgbClr val="C94C4C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58968" y="2029968"/>
            <a:ext cx="13807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Reason-code candidates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40880" y="13258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Evidence rows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1572768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8B8D"/>
                </a:solidFill>
              </a:rPr>
              <a:t>6</a:t>
            </a:r>
            <a:endParaRPr lang="en-US" sz="2400" b="1" dirty="0">
              <a:solidFill>
                <a:srgbClr val="0F8B8D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59168" y="2029968"/>
            <a:ext cx="13807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US/EU packages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41080" y="1325880"/>
            <a:ext cx="1874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73"/>
                </a:solidFill>
              </a:rPr>
              <a:t>EU checklist</a:t>
            </a:r>
            <a:endParaRPr lang="en-US" sz="950" b="1" dirty="0">
              <a:solidFill>
                <a:srgbClr val="5C677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41080" y="1572768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544"/>
                </a:solidFill>
              </a:rPr>
              <a:t>87.5%</a:t>
            </a:r>
            <a:endParaRPr lang="en-US" sz="2400" b="1" dirty="0">
              <a:solidFill>
                <a:srgbClr val="F2B54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9368" y="2029968"/>
            <a:ext cx="1837944" cy="3657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</a:rPr>
              <a:t>Pre-deploy completeness</a:t>
            </a:r>
            <a:endParaRPr lang="en-US" sz="950" dirty="0">
              <a:solidFill>
                <a:srgbClr val="1F293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29077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Shared evidence schema, different risk signals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3337560"/>
            <a:ext cx="1234440" cy="40599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Jurisdiction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47672" y="3337560"/>
            <a:ext cx="3611880" cy="40599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signal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59552" y="3337560"/>
            <a:ext cx="2148840" cy="40599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Owner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08392" y="3337560"/>
            <a:ext cx="3931920" cy="405994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" y="3743554"/>
            <a:ext cx="123444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US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47672" y="3743554"/>
            <a:ext cx="361188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Adverse action reason-code quality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59552" y="3743554"/>
            <a:ext cx="214884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US Compliance Lead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08392" y="3743554"/>
            <a:ext cx="393192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Review low-confidence reason samples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4149547"/>
            <a:ext cx="123444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US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947672" y="4149547"/>
            <a:ext cx="361188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Potential proxy discrimination signal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59552" y="4149547"/>
            <a:ext cx="214884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Fair Lending Counsel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08392" y="4149547"/>
            <a:ext cx="393192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Open privileged fair lending review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3232" y="4555541"/>
            <a:ext cx="123444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EU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947672" y="4555541"/>
            <a:ext cx="361188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High-risk AI evidence gate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59552" y="4555541"/>
            <a:ext cx="214884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EU AI Governance Lead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708392" y="4555541"/>
            <a:ext cx="3931920" cy="40599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Do not approve launch until owner assigned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3232" y="4961534"/>
            <a:ext cx="123444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EU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947672" y="4961534"/>
            <a:ext cx="361188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Controlled audit bias testing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59552" y="4961534"/>
            <a:ext cx="214884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EU Model Risk Lead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7708392" y="4961534"/>
            <a:ext cx="3931920" cy="405994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</a:rPr>
              <a:t>Document remediation decision</a:t>
            </a:r>
            <a:endParaRPr lang="en-US" sz="1000" dirty="0">
              <a:solidFill>
                <a:srgbClr val="1F2933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773"/>
                </a:solidFill>
              </a:rPr>
              <a:t>08</a:t>
            </a:r>
            <a:endParaRPr lang="en-US" sz="1000" dirty="0">
              <a:solidFill>
                <a:srgbClr val="5C677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 module deep dive: explanation quality + proxy-risk review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US path does not use direct protected attributes; it detects risk through reason quality and proxy signals.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4358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Reason-code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14300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3B6E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Model denial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938528"/>
            <a:ext cx="4572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40280" y="1691640"/>
            <a:ext cx="1417320" cy="502920"/>
          </a:xfrm>
          <a:prstGeom prst="rect">
            <a:avLst/>
          </a:prstGeom>
          <a:solidFill>
            <a:srgbClr val="F0F4F8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Feature attribution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internal aid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938528"/>
            <a:ext cx="4572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14800" y="1691640"/>
            <a:ext cx="1417320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0F8B8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Approved reason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code mapping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938528"/>
            <a:ext cx="457200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89320" y="1691640"/>
            <a:ext cx="1417320" cy="502920"/>
          </a:xfrm>
          <a:prstGeom prst="rect">
            <a:avLst/>
          </a:prstGeom>
          <a:solidFill>
            <a:srgbClr val="FFE8B5"/>
          </a:solidFill>
          <a:ln w="13970">
            <a:solidFill>
              <a:srgbClr val="F2B5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Low-confidence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review queue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2834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Core US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24612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Low-confidence reasons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78608" y="32461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25.9%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328416" y="3282696"/>
            <a:ext cx="379476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28416" y="3282696"/>
            <a:ext cx="2458218" cy="109728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372160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Postcode denial gap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78608" y="3721608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31.8%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328416" y="3758184"/>
            <a:ext cx="379476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28416" y="3758184"/>
            <a:ext cx="3013648" cy="109728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9808" y="419709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Thin-file denial gap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78608" y="41970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26.5%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328416" y="4233672"/>
            <a:ext cx="379476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28416" y="4233672"/>
            <a:ext cx="2512750" cy="109728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35240" y="1298448"/>
            <a:ext cx="37947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Important boundary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62672" y="1682496"/>
            <a:ext cx="3739896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3528" y="1773936"/>
            <a:ext cx="3758184" cy="9418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Postcode risk is an internal fair-lending review signal, not a consumer-facing denial reason. SHAP-style attribution helps identify candidate factors but is not legally sufficient by itself.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35240" y="2971800"/>
            <a:ext cx="37947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Evidence output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62672" y="3355848"/>
            <a:ext cx="373989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3447288"/>
            <a:ext cx="3758184" cy="9418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US evidence package assigns owner, deadline and escalation level: reason-code review to US Compliance; proxy-risk review to Fair Lending Counsel; hard-drop control to Data Governance.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35240" y="4709160"/>
            <a:ext cx="1366114" cy="2286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Reason code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01354" y="4709160"/>
            <a:ext cx="758952" cy="2286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Count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60306" y="4709160"/>
            <a:ext cx="1669694" cy="2286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Low-conf. rate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35240" y="4937760"/>
            <a:ext cx="1366114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AA-CR-01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001354" y="4937760"/>
            <a:ext cx="75895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209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60306" y="4937760"/>
            <a:ext cx="1669694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8.1%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35240" y="5166360"/>
            <a:ext cx="1366114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AA-DTI-02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01354" y="5166360"/>
            <a:ext cx="758952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77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9760306" y="5166360"/>
            <a:ext cx="1669694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1.3%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35240" y="5394960"/>
            <a:ext cx="1366114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AA-EMP-03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9001354" y="5394960"/>
            <a:ext cx="75895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25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9760306" y="5394960"/>
            <a:ext cx="1669694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0.0%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35240" y="5623560"/>
            <a:ext cx="1366114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AA-INC-06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9001354" y="5623560"/>
            <a:ext cx="758952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26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60306" y="5623560"/>
            <a:ext cx="1669694" cy="2286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0.0%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 module deep dive: high-risk lifecycle governance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EU creditworthiness AI enters a high-risk governance workflow before and after deployment.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657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Pre-deployment gate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3602736" cy="0"/>
          </a:xfrm>
          <a:prstGeom prst="line">
            <a:avLst/>
          </a:prstGeom>
          <a:noFill/>
          <a:ln w="25400">
            <a:solidFill>
              <a:srgbClr val="6A5A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719072"/>
            <a:ext cx="3621024" cy="8503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The tool does not “discover” high-risk status after the fact. Creditworthiness / credit score use is treated as high-risk and the gate checks evidence completeness before approval.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26280" y="1243584"/>
            <a:ext cx="3657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Controlled audit bias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1627632"/>
            <a:ext cx="360273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719072"/>
            <a:ext cx="3621024" cy="8503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Audit-only sensitive fields are processed only in a segregated environment with lawful basis, access control, logs, minimisation and retention controls.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243584"/>
            <a:ext cx="3154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Post-deployment 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21624" y="1627632"/>
            <a:ext cx="309981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719072"/>
            <a:ext cx="3118104" cy="8503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The tool tracks score drift, DTI shift and group-level performance changes to decide whether monitoring, sampled review or model governance review is needed.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EU metrics snapshot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333756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Approval disparity ratio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78608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34.7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3328416" y="3374136"/>
            <a:ext cx="365760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28416" y="3374136"/>
            <a:ext cx="1268986" cy="109728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9808" y="379476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False negative rate gap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78608" y="37947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26.5%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328416" y="3831336"/>
            <a:ext cx="365760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28416" y="3831336"/>
            <a:ext cx="2426269" cy="109728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9808" y="425196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False positive rate gap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78608" y="42519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9.2%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3328416" y="4288536"/>
            <a:ext cx="365760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28416" y="4288536"/>
            <a:ext cx="839037" cy="109728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9808" y="470916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Model-score PSI</a:t>
            </a:r>
            <a:endParaRPr lang="en-US" sz="1050" dirty="0">
              <a:solidFill>
                <a:srgbClr val="1F29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78608" y="47091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30" b="1" dirty="0">
                <a:solidFill>
                  <a:srgbClr val="17324D"/>
                </a:solidFill>
              </a:rPr>
              <a:t>0.5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3328416" y="4745736"/>
            <a:ext cx="3657600" cy="109728"/>
          </a:xfrm>
          <a:prstGeom prst="rect">
            <a:avLst/>
          </a:prstGeom>
          <a:solidFill>
            <a:srgbClr val="E4EAF0"/>
          </a:solidFill>
          <a:ln>
            <a:solidFill>
              <a:srgbClr val="E4EA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28416" y="4745736"/>
            <a:ext cx="85314" cy="10972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15200" y="295351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Pre-deployment checklist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3337560"/>
            <a:ext cx="3246120" cy="33528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Evidence item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61320" y="3337560"/>
            <a:ext cx="822960" cy="33528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Complete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15200" y="3672840"/>
            <a:ext cx="324612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Intended purpose and high-risk classification recorded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561320" y="3672840"/>
            <a:ext cx="82296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Yes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0" y="4008120"/>
            <a:ext cx="3246120" cy="33528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Training data provenance documented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61320" y="4008120"/>
            <a:ext cx="822960" cy="33528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Yes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15200" y="4343400"/>
            <a:ext cx="324612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Data governance controls documented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561320" y="4343400"/>
            <a:ext cx="82296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Yes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15200" y="4678680"/>
            <a:ext cx="3246120" cy="33528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Bias testing plan approved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561320" y="4678680"/>
            <a:ext cx="822960" cy="33528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Yes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315200" y="5013960"/>
            <a:ext cx="324612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Human oversight workflow approved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561320" y="5013960"/>
            <a:ext cx="82296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Yes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15200" y="55321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4C4C"/>
                </a:solidFill>
              </a:rPr>
              <a:t>Completeness = 87.5%; missing owner blocks EU deployment approval in the prototype.</a:t>
            </a:r>
            <a:endParaRPr lang="en-US" sz="1200" b="1" dirty="0">
              <a:solidFill>
                <a:srgbClr val="C94C4C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Sensitivity analysis: governance strength vs operating friction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Option C requires showing how conclusions move when thresholds or data distribution shift.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344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Human review workload under threshold changes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566928" cy="2011680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</a:rPr>
              <a:t>37.6%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42702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C6773"/>
                </a:solidFill>
              </a:rPr>
              <a:t>thr 0.52</a:t>
            </a:r>
            <a:endParaRPr lang="en-US" sz="920" dirty="0">
              <a:solidFill>
                <a:srgbClr val="5C67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148840" y="1911971"/>
            <a:ext cx="566928" cy="1974229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1680" y="3977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</a:rPr>
              <a:t>36.9%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42702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C6773"/>
                </a:solidFill>
              </a:rPr>
              <a:t>thr 0.56</a:t>
            </a:r>
            <a:endParaRPr lang="en-US" sz="920" dirty="0">
              <a:solidFill>
                <a:srgbClr val="5C677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1895921"/>
            <a:ext cx="566928" cy="1990279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46120" y="3977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</a:rPr>
              <a:t>37.2%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42702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C6773"/>
                </a:solidFill>
              </a:rPr>
              <a:t>thr 0.60</a:t>
            </a:r>
            <a:endParaRPr lang="en-US" sz="920" dirty="0">
              <a:solidFill>
                <a:srgbClr val="5C677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17720" y="1885220"/>
            <a:ext cx="566928" cy="200098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80560" y="3977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</a:rPr>
              <a:t>37.4%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42702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5C6773"/>
                </a:solidFill>
              </a:rPr>
              <a:t>thr 0.64</a:t>
            </a:r>
            <a:endParaRPr lang="en-US" sz="920" dirty="0">
              <a:solidFill>
                <a:srgbClr val="5C6773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548640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234440"/>
            <a:ext cx="50109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618488"/>
            <a:ext cx="4956048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709928"/>
            <a:ext cx="4974336" cy="8961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 stricter model or lower alert threshold increases review workload. The tool responds with Level 1 monitoring or Level 2 sampled review before considering business-blocking action.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27648" y="2880360"/>
            <a:ext cx="50109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Business design choice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264408"/>
            <a:ext cx="4956048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3355848"/>
            <a:ext cx="4974336" cy="8961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Governance cannot become an operational denial-of-service. The monitor reserves Level 3/4 interventions for governance evidence failure, sensitive-field leakage or severe systemic risk.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9808" y="504748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Sensitivity scenarios included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" y="5349240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Approval threshold changes • alert threshold changes • protected-group DTI shift • human-review workload estimation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oversight: judgement is routed, not outsourced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773"/>
                </a:solidFill>
              </a:rPr>
              <a:t>The tool escalates by risk tier to protect both governance quality and instant decisioning.</a:t>
            </a:r>
            <a:endParaRPr lang="en-US" sz="14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35024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7324D"/>
                </a:solidFill>
              </a:rPr>
              <a:t>No action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3"/>
                </a:solidFill>
              </a:rPr>
              <a:t>Data contract passes; metrics normal</a:t>
            </a:r>
            <a:endParaRPr lang="en-US" sz="1040" dirty="0">
              <a:solidFill>
                <a:srgbClr val="1F293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852928" y="1325880"/>
            <a:ext cx="502920" cy="50292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47288" y="1335024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7324D"/>
                </a:solidFill>
              </a:rPr>
              <a:t>Monitoring ticket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447288" y="164592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3"/>
                </a:solidFill>
              </a:rPr>
              <a:t>Minor drift or weak signal</a:t>
            </a:r>
            <a:endParaRPr lang="en-US" sz="1040" dirty="0">
              <a:solidFill>
                <a:srgbClr val="1F293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96896" y="1572768"/>
            <a:ext cx="219456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11496" y="1325880"/>
            <a:ext cx="502920" cy="502920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05856" y="1335024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7324D"/>
                </a:solidFill>
              </a:rPr>
              <a:t>Sampled review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5705856" y="164592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3"/>
                </a:solidFill>
              </a:rPr>
              <a:t>Low-conf US reasons or moderate EU gap; 1–5% sample</a:t>
            </a:r>
            <a:endParaRPr lang="en-US" sz="1040" dirty="0">
              <a:solidFill>
                <a:srgbClr val="1F2933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55464" y="1572768"/>
            <a:ext cx="219456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70064" y="1325880"/>
            <a:ext cx="502920" cy="502920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64424" y="1335024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7324D"/>
                </a:solidFill>
              </a:rPr>
              <a:t>Model governance review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964424" y="164592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3"/>
                </a:solidFill>
              </a:rPr>
              <a:t>Severe disparity, EU evidence missing or material model change</a:t>
            </a:r>
            <a:endParaRPr lang="en-US" sz="1040" dirty="0">
              <a:solidFill>
                <a:srgbClr val="1F29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14032" y="1572768"/>
            <a:ext cx="219456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28632" y="1325880"/>
            <a:ext cx="502920" cy="502920"/>
          </a:xfrm>
          <a:prstGeom prst="rect">
            <a:avLst/>
          </a:prstGeom>
          <a:solidFill>
            <a:srgbClr val="C94C4C"/>
          </a:solidFill>
          <a:ln>
            <a:solidFill>
              <a:srgbClr val="C94C4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22992" y="1335024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17324D"/>
                </a:solidFill>
              </a:rPr>
              <a:t>Emergency suspension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10222992" y="1645920"/>
            <a:ext cx="1572768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3"/>
                </a:solidFill>
              </a:rPr>
              <a:t>Sensitive fields leak, config fails or severe systemic signal</a:t>
            </a:r>
            <a:endParaRPr lang="en-US" sz="1040" dirty="0">
              <a:solidFill>
                <a:srgbClr val="1F2933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72600" y="1572768"/>
            <a:ext cx="219456" cy="0"/>
          </a:xfrm>
          <a:prstGeom prst="line">
            <a:avLst/>
          </a:prstGeom>
          <a:noFill/>
          <a:ln w="19050">
            <a:solidFill>
              <a:srgbClr val="5C677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49808" y="3063240"/>
            <a:ext cx="228600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Trigger type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35808" y="3063240"/>
            <a:ext cx="205740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Typical owner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93208" y="3063240"/>
            <a:ext cx="6309360" cy="45720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Why human judgement is needed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" y="352044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Low-confidence reason code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35808" y="352044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Compliance Lead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93208" y="3520440"/>
            <a:ext cx="6309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Consumer-facing reason requires more than post-hoc attribution.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9808" y="3977640"/>
            <a:ext cx="22860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Proxy-risk signal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35808" y="3977640"/>
            <a:ext cx="20574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Fair Lending Counsel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93208" y="3977640"/>
            <a:ext cx="6309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Proxy patterns need privileged legal/model-risk interpretation.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" y="443484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evidence gap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35808" y="443484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AI Governance Lead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93208" y="4434840"/>
            <a:ext cx="6309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Deployment approval depends on governance completeness.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49808" y="4892040"/>
            <a:ext cx="22860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Sensitive-field leakage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035808" y="4892040"/>
            <a:ext cx="20574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Data Governance + CCO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93208" y="4892040"/>
            <a:ext cx="6309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This is a data-path failure, not just a metric failure.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modes: what can go wrong, who is harmed, and what the tool does next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The strongest work names failure modes specific to RegTech, not just generic model risk.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43584"/>
            <a:ext cx="1920240" cy="70104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Failure mode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359152" y="1243584"/>
            <a:ext cx="1828800" cy="70104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Who is harmed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87952" y="1243584"/>
            <a:ext cx="2194560" cy="70104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Detection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82512" y="1243584"/>
            <a:ext cx="2423160" cy="70104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Mitigation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805672" y="1243584"/>
            <a:ext cx="2926080" cy="701040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Residual risk</a:t>
            </a:r>
            <a:endParaRPr lang="en-US" sz="102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1944624"/>
            <a:ext cx="192024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Jurisdiction config drift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59152" y="1944624"/>
            <a:ext cx="182880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Applicants + compliance owners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87952" y="1944624"/>
            <a:ext cx="21945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Version mismatch or field in wrong path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82512" y="1944624"/>
            <a:ext cx="24231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Four-eyes approval, audit log, rollback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05672" y="1944624"/>
            <a:ext cx="292608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 bad policy can still be approved.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2645664"/>
            <a:ext cx="192024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reason-code failure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59152" y="2645664"/>
            <a:ext cx="182880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Declined applicants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87952" y="2645664"/>
            <a:ext cx="219456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Low-confidence or REVIEW-PROXY reason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2512" y="2645664"/>
            <a:ext cx="242316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Sampled review + reason taxonomy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05672" y="2645664"/>
            <a:ext cx="292608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Post-hoc explanation is imperfect.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3346704"/>
            <a:ext cx="192024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US proxy blind spot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59152" y="3346704"/>
            <a:ext cx="182880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Protected communities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87952" y="3346704"/>
            <a:ext cx="21945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Postcode/thin-file concentration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82512" y="3346704"/>
            <a:ext cx="24231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Privileged fair lending review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05672" y="3346704"/>
            <a:ext cx="292608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No direct labels can under-detect harm.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8912" y="4047744"/>
            <a:ext cx="192024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audit data failure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359152" y="4047744"/>
            <a:ext cx="182880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EU applicants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87952" y="4047744"/>
            <a:ext cx="219456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Access logs + data contract tests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82512" y="4047744"/>
            <a:ext cx="242316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Segregated audit environment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05672" y="4047744"/>
            <a:ext cx="2926080" cy="701040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Audit path increases privacy risk.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" y="4748784"/>
            <a:ext cx="192024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Human oversight overload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359152" y="4748784"/>
            <a:ext cx="182880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Applicants + operations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87952" y="4748784"/>
            <a:ext cx="21945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Workload sensitivity analysis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82512" y="4748784"/>
            <a:ext cx="242316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Risk-tiered review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805672" y="4748784"/>
            <a:ext cx="2926080" cy="701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3"/>
                </a:solidFill>
              </a:rPr>
              <a:t>Low thresholds can slow approvals.</a:t>
            </a:r>
            <a:endParaRPr lang="en-US" sz="920" dirty="0">
              <a:solidFill>
                <a:srgbClr val="1F2933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1792" y="57607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B8D"/>
                </a:solidFill>
              </a:rPr>
              <a:t>Management message</a:t>
            </a:r>
            <a:endParaRPr lang="en-US" sz="1200" b="1" dirty="0">
              <a:solidFill>
                <a:srgbClr val="0F8B8D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2743200" y="576072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</a:rPr>
              <a:t>The tool reduces model-governance risk but creates its own configuration, data-access and evidence-reliance risks. It therefore needs governance as a product, not just validation as a dashboard.</a:t>
            </a:r>
            <a:endParaRPr lang="en-US" sz="1200" dirty="0">
              <a:solidFill>
                <a:srgbClr val="1F2933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boundaries and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The product is valuable because it is disciplined about what it refuses to automate.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43584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No unified sensitive-data pool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3"/>
                </a:solidFill>
              </a:rPr>
              <a:t>Cost: weaker cross-jurisdiction comparability; higher engineering cost. Reason: avoid US contamination and cross-jurisdiction permission confusion.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13232" y="2322576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No automatic final adverse action notice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3"/>
                </a:solidFill>
              </a:rPr>
              <a:t>Cost: human review remains necessary. Reason: SHAP-style attribution is not legally sufficient by itself.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13232" y="3401568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No automatic model repair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71246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3"/>
                </a:solidFill>
              </a:rPr>
              <a:t>Cost: detection-to-remediation time lag. Reason: automatic changes break governance and audit trails.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13232" y="448056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No legal conclusion / certification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4791456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3"/>
                </a:solidFill>
              </a:rPr>
              <a:t>Cost: legal and compliance staff remain involved. Reason: tool provides evidence and escalation, not legal judgement.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400800" y="124358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Roadmap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292608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39712" y="171907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Connect to real Revolut or partner-bank credit data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446520" y="2286000"/>
            <a:ext cx="292608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9712" y="231343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Add legal-rule update workflow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9712" y="290779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Add immutable audit logging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446520" y="3474720"/>
            <a:ext cx="292608" cy="292608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9712" y="350215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Add issue tracker integration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446520" y="4069080"/>
            <a:ext cx="292608" cy="292608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9712" y="409651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Add production model drift dashboards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6446520" y="4663440"/>
            <a:ext cx="292608" cy="292608"/>
          </a:xfrm>
          <a:prstGeom prst="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469087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</a:rPr>
              <a:t>Add UK / Singapore jurisdiction packs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309360" y="5486400"/>
            <a:ext cx="48463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5870448"/>
            <a:ext cx="479145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5961888"/>
            <a:ext cx="4809744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Approve as a governance monitor for evidence generation and escalation. Do not position it as a credit engine, legal-certification tool or automated bias-remediation system.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60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package: what this deck is tied 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</a:rPr>
              <a:t>The detailed deck is designed to be edited and aligned with the Task 3 artefacts in the zip.</a:t>
            </a:r>
            <a:endParaRPr lang="en-US" sz="1200" dirty="0">
              <a:solidFill>
                <a:srgbClr val="5C677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641080" y="347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5C6773"/>
                </a:solidFill>
              </a:rPr>
              <a:t>MH6822 | Pengxiang Gong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016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43584"/>
            <a:ext cx="3520440" cy="48332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Artefact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0" y="1243584"/>
            <a:ext cx="7498080" cy="483326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in senior-management story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726910"/>
            <a:ext cx="352044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Task3_Tool_Design_Report.pdf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0" y="1726910"/>
            <a:ext cx="749808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Full design rationale, failure modes, boundaries and quantitative interpretation.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210235"/>
            <a:ext cx="352044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Task3_Jurisdiction_Config.json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2210235"/>
            <a:ext cx="749808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Executable rule layer with owner, version, legal basis and rollback.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693561"/>
            <a:ext cx="352044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Task3_Regulatory_Mapping_Table.pdf/csv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0" y="2693561"/>
            <a:ext cx="749808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Law/policy-to-tool mapping that prevents decorative jurisdiction logic.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176887"/>
            <a:ext cx="352044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Task3_Quantitative_Analysis_Notebook.ipynb/html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0" y="3176887"/>
            <a:ext cx="749808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Reproducible synthetic data and evidence-output generation.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3660213"/>
            <a:ext cx="352044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Task3_Output_US/EU_Evidence.csv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0" y="3660213"/>
            <a:ext cx="7498080" cy="48332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Shared evidence schema with jurisdiction-bound risk signals and owners.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4143538"/>
            <a:ext cx="352044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Task3_Sensitivity_Results.csv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4143538"/>
            <a:ext cx="7498080" cy="483326"/>
          </a:xfrm>
          <a:prstGeom prst="rect">
            <a:avLst/>
          </a:prstGeom>
          <a:solidFill>
            <a:srgbClr val="F0F4F8"/>
          </a:solidFill>
          <a:ln w="6350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3"/>
                </a:solidFill>
              </a:rPr>
              <a:t>Threshold and workload analysis for governance vs business friction.</a:t>
            </a:r>
            <a:endParaRPr lang="en-US" sz="1020" dirty="0">
              <a:solidFill>
                <a:srgbClr val="1F29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" y="4983480"/>
            <a:ext cx="50292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Optional enhancement for figures folder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" y="5367528"/>
            <a:ext cx="4974336" cy="0"/>
          </a:xfrm>
          <a:prstGeom prst="line">
            <a:avLst/>
          </a:prstGeom>
          <a:noFill/>
          <a:ln w="25400">
            <a:solidFill>
              <a:srgbClr val="F2B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58968"/>
            <a:ext cx="4992624" cy="4846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Generate chart images from the notebook and place them under task3/figures/. The deck itself uses editable PowerPoint charts/shapes, but the submission package should include reusable static figures for readers.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4983480"/>
            <a:ext cx="50292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File naming discipline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5352" y="5367528"/>
            <a:ext cx="497433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5458968"/>
            <a:ext cx="4992624" cy="4846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Final editable deck should be named Task3_Senior_Management_Presentation_Detailed.pptx. If exported to PDF, use the same Task3_ prefix.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83696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773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15491</Words>
  <Application>WPS 文字</Application>
  <PresentationFormat>On-screen Show (16:9)</PresentationFormat>
  <Paragraphs>838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Aptos Display</vt:lpstr>
      <vt:lpstr>苹方-简</vt:lpstr>
      <vt:lpstr>Aptos Display</vt:lpstr>
      <vt:lpstr>Aptos Display</vt:lpstr>
      <vt:lpstr>Aptos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EvidenceBridge RegTech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Jurisdiction-Aware Credit Decision Governance Monitor</dc:title>
  <dc:creator>Pengxiang Gong</dc:creator>
  <dc:subject>MH6822 Regulatory Technology Assignment 1</dc:subject>
  <cp:lastModifiedBy>君泽</cp:lastModifiedBy>
  <cp:revision>4</cp:revision>
  <dcterms:created xsi:type="dcterms:W3CDTF">2026-05-22T12:22:45Z</dcterms:created>
  <dcterms:modified xsi:type="dcterms:W3CDTF">2026-05-22T12:22:45Z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1DE459B8280F28323748106A0DBCF867_42</vt:lpwstr>
  </property>
  <property fmtid="{D5CDD505-2E9C-101B-9397-08002B2CF9AE}" pid="3" name="KSOProductBuildVer">
    <vt:lpwstr>2052-6.7.1.8828</vt:lpwstr>
  </property>
</Properties>
</file>